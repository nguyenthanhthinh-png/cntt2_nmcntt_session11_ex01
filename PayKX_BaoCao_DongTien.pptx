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(Triệu VNĐ)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Tháng 7</c:v>
                </c:pt>
                <c:pt idx="1">
                  <c:v>Tháng 8</c:v>
                </c:pt>
                <c:pt idx="2">
                  <c:v>Tháng 9</c:v>
                </c:pt>
                <c:pt idx="3">
                  <c:v>Tháng 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340</c:v>
                </c:pt>
                <c:pt idx="1">
                  <c:v>410</c:v>
                </c:pt>
                <c:pt idx="2">
                  <c:v>480</c:v>
                </c:pt>
                <c:pt idx="3">
                  <c:v>552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 phí Hoàn tiền (Triệu VNĐ)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Tháng 7</c:v>
                </c:pt>
                <c:pt idx="1">
                  <c:v>Tháng 8</c:v>
                </c:pt>
                <c:pt idx="2">
                  <c:v>Tháng 9</c:v>
                </c:pt>
                <c:pt idx="3">
                  <c:v>Tháng 10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190</c:v>
                </c:pt>
                <c:pt idx="1">
                  <c:v>220</c:v>
                </c:pt>
                <c:pt idx="2">
                  <c:v>250</c:v>
                </c:pt>
                <c:pt idx="3">
                  <c:v>275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Lợi nhuận ròng (Triệu VNĐ)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Tháng 7</c:v>
                </c:pt>
                <c:pt idx="1">
                  <c:v>Tháng 8</c:v>
                </c:pt>
                <c:pt idx="2">
                  <c:v>Tháng 9</c:v>
                </c:pt>
                <c:pt idx="3">
                  <c:v>Tháng 10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150</c:v>
                </c:pt>
                <c:pt idx="1">
                  <c:v>190</c:v>
                </c:pt>
                <c:pt idx="2">
                  <c:v>230</c:v>
                </c:pt>
                <c:pt idx="3">
                  <c:v>277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Tỷ trọng giao dịch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Nạp ĐT (62%)</c:v>
                </c:pt>
                <c:pt idx="1">
                  <c:v>Học phí (23%)</c:v>
                </c:pt>
                <c:pt idx="2">
                  <c:v>Căng-tin &amp; Xe buýt (15%)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23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365D"/>
                </a:solidFill>
                <a:latin typeface="Arial"/>
              </a:defRPr>
            </a:pPr>
            <a:r>
              <a:t>BÁO CÁO LỖ LÃI &amp; DÒNG TIỀN PAYKX</a:t>
            </a:r>
          </a:p>
          <a:p>
            <a:br/>
            <a:pPr>
              <a:defRPr sz="3200" b="1">
                <a:solidFill>
                  <a:srgbClr val="008080"/>
                </a:solidFill>
                <a:latin typeface="Arial"/>
              </a:defRPr>
            </a:pPr>
            <a:r>
              <a:t>Doanh thu tăng 15% nhờ ưu đãi nạp điện thoại</a:t>
            </a:r>
          </a:p>
          <a:p>
            <a:br/>
            <a:pPr>
              <a:defRPr sz="3000">
                <a:solidFill>
                  <a:srgbClr val="333333"/>
                </a:solidFill>
                <a:latin typeface="Arial"/>
              </a:defRPr>
            </a:pPr>
            <a:r>
              <a:t>• Áp dụng Rule 10/20/30: Tinh gọn, Font &gt;= 30pt</a:t>
            </a:r>
            <a:br/>
            <a:r>
              <a:t>• Đối soát tự động T+1 chuẩn hóa 100% dữ liệu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65D"/>
                </a:solidFill>
                <a:latin typeface="Arial"/>
              </a:defRPr>
            </a:pPr>
            <a:r>
              <a:t>Doanh thu tăng 15% nhờ ưu đãi nạp điện thoại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110642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365D"/>
                </a:solidFill>
                <a:latin typeface="Arial"/>
              </a:defRPr>
            </a:pPr>
            <a:r>
              <a:t>Lợi nhuận tháng 10 đạt đỉnh 277 triệu VNĐ (+20.4% MoM)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65D"/>
                </a:solidFill>
                <a:latin typeface="Arial"/>
              </a:defRPr>
            </a:pPr>
            <a:r>
              <a:t>Nạp điện thoại chiếm 62% tổng lượng giao dịch hoàn tiền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110642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8080"/>
                </a:solidFill>
                <a:latin typeface="Arial"/>
              </a:defRPr>
            </a:pPr>
            <a:r>
              <a:t>Tối ưu phí đối tác ngân hàng giúp tiết kiệm 18% chi phí vận hành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